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14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74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2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4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44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9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79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16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772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Old computer monitors">
            <a:extLst>
              <a:ext uri="{FF2B5EF4-FFF2-40B4-BE49-F238E27FC236}">
                <a16:creationId xmlns:a16="http://schemas.microsoft.com/office/drawing/2014/main" id="{458E4FB4-DC1A-C2EF-2E89-9E7792ECA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553" b="14220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14162-6AB4-3507-3595-C14C0857D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r"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Facebook Cambridge Analytica the UNCERTAIN FUTURE OF ONLINE PRIVACY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BDAD93-CC20-9526-B806-3E44218A1065}"/>
              </a:ext>
            </a:extLst>
          </p:cNvPr>
          <p:cNvSpPr txBox="1"/>
          <p:nvPr/>
        </p:nvSpPr>
        <p:spPr>
          <a:xfrm>
            <a:off x="8415153" y="1438027"/>
            <a:ext cx="2368905" cy="4076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FFFFFF"/>
                </a:solidFill>
              </a:rPr>
              <a:t>Presented </a:t>
            </a:r>
            <a:r>
              <a:rPr lang="en-US" sz="2000">
                <a:solidFill>
                  <a:srgbClr val="FFFFFF"/>
                </a:solidFill>
              </a:rPr>
              <a:t>by      Dhanraj</a:t>
            </a:r>
            <a:endParaRPr lang="en-US" sz="2000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597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42F5-C343-9B95-99F0-73BF4BA70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627321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Unveiling the Cambridge Analytica Scandal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57299-32C8-E315-0680-78FB6DF53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924280"/>
            <a:ext cx="10691265" cy="3785404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of Data, The Price of Trust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>
              <a:buNone/>
            </a:pP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2018, the world was shaken as Facebook, with over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2.4 billion users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became the epicenter of one of the largest data breaches in history.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Scandal: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87 million Facebook users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had their personal data harvested without their knowledge, which was then used to influence political campaigns, including the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2016 U.S. Presidential Election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Core Issue: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This event exposed Facebook’s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deep vulnerabilities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handling user data and its role in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breaching privacy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—leading to an explosion of public outrage and regulatory scrutiny.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4216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9EF78-604B-1045-1196-9138C4291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563526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Facebook’s Data Empire</a:t>
            </a:r>
            <a:endParaRPr lang="en-US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7F3CA-937C-E6A1-F21A-269390E0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69255"/>
            <a:ext cx="10691265" cy="4487153"/>
          </a:xfrm>
        </p:spPr>
        <p:txBody>
          <a:bodyPr>
            <a:noAutofit/>
          </a:bodyPr>
          <a:lstStyle/>
          <a:p>
            <a:pPr marL="0" marR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“A Social Network Built on Data”</a:t>
            </a:r>
            <a:endParaRPr lang="en-US" sz="24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Collection 101: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0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Facebook collects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96 types of data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on users, including sensitive data like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financial transactions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shares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even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friends' information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0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Secret Sauce: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Facebook’s business model thrives on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personalized advertising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using this massive data trove to sell highly targeted ads to advertisers, effectively monetizing users' personal information.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Aft>
                <a:spcPts val="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It Worked: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0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Apps like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"This Is Your Digital Life"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allowed third-party developers to access user data, and through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“friend permissions”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millions of additional users’ data was harvested.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0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This unregulated data flow and lack of oversight opened Facebook up to serious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privacy risks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as demonstrated by the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Cambridge Analytica breach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4854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F98F5-FA9F-D919-0377-6F7CEB1C3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680484"/>
          </a:xfrm>
        </p:spPr>
        <p:txBody>
          <a:bodyPr>
            <a:normAutofit/>
          </a:bodyPr>
          <a:lstStyle/>
          <a:p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Breach that Shook the World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75876-54BC-8EFC-623F-E2B00B7EF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22261"/>
            <a:ext cx="10691265" cy="438082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“Data for Sale: Political Power at Stake”</a:t>
            </a:r>
            <a:endParaRPr lang="en-US" sz="18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Kogan’s App and the Snowball Effect: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Aleksandr Kogan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 Cambridge University researcher, created an app designed to collect personality data. While 300,000 users took the survey,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millions of their friends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had their data collected without consent, thanks to Facebook's "friend permissions" policy.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Sale: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Kogan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sold this data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Cambridge Analytica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$800,000. Cambridge Analytica used the data to create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psychographic profiles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voters and tailor political ads.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Political Influence: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data targeted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undecided voters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during the 2016 U.S. elections and also influenced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pro-Brexit campaigns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This targeted data manipulation played a crucial role in swaying political outcomes.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Fallout: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When the breach was exposed,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Facebook's failure to notify affected users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created an enormous backlash, leading to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severe reputational damage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3971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16F9D-D76F-FF93-E95B-553946F83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606056"/>
          </a:xfrm>
        </p:spPr>
        <p:txBody>
          <a:bodyPr>
            <a:normAutofit/>
          </a:bodyPr>
          <a:lstStyle/>
          <a:p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 Outrage and Legal Consequences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E9E4B-6976-F5CF-F60F-54BD54120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615936"/>
            <a:ext cx="10691265" cy="4444622"/>
          </a:xfrm>
        </p:spPr>
        <p:txBody>
          <a:bodyPr>
            <a:noAutofit/>
          </a:bodyPr>
          <a:lstStyle/>
          <a:p>
            <a:pPr marL="0" marR="0" algn="ctr">
              <a:lnSpc>
                <a:spcPct val="107000"/>
              </a:lnSpc>
              <a:spcAft>
                <a:spcPts val="200"/>
              </a:spcAft>
              <a:buNone/>
            </a:pP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“Broken Trust and the Cost of Negligence”</a:t>
            </a:r>
            <a:endParaRPr lang="en-US" sz="24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Repercussions: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Facebook’s Apology Tour: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After the scandal broke, Mark Zuckerberg faced intense scrutiny in public hearings, trying to rebuild trust by acknowledging the company’s failures.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Damage to Trust: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scandal marked the beginning of a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trust crisis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Facebook, as millions of users felt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violated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the unauthorized use of their personal data.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Legal Backlash: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FTC Fine: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2019, Facebook was fined a record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$5 billion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the U.S. Federal Trade Commission (FTC) for violating privacy policies and failing to protect users' data.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Zuckerberg's Testimony: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Zuckerberg testified before Congress, facing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tough questions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about Facebook’s role in the data breach and its responsibility toward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271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56E23-C82A-1558-8258-D7B05061E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669851"/>
          </a:xfrm>
        </p:spPr>
        <p:txBody>
          <a:bodyPr>
            <a:normAutofit/>
          </a:bodyPr>
          <a:lstStyle/>
          <a:p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Facebook’s Response – A Change in Course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B29B5-4B5C-A59B-6281-B5E1541EC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07321"/>
            <a:ext cx="10691265" cy="4231971"/>
          </a:xfrm>
        </p:spPr>
        <p:txBody>
          <a:bodyPr>
            <a:no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Lessons Learned, But Is It Enough”</a:t>
            </a:r>
          </a:p>
          <a:p>
            <a:pPr marL="342900" marR="0" lvl="0" indent="-342900">
              <a:lnSpc>
                <a:spcPct val="107000"/>
              </a:lnSpc>
              <a:spcAft>
                <a:spcPts val="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Reforms: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Access Restrictions: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Facebook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restricted third-party apps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from accessing user data unless users explicitly opted in.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Enhanced Transparency: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company rolled out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simplified privacy settings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allowed users to see which apps accessed their data. Additionally, a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access dashboard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was introduced for better transparency.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Bigger Picture: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Zuckerberg admitted that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Facebook’s previous approach to privacy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was flawed and that the company needed to evolve its strategies to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protect user data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better in the future.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27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2F23-2857-72C6-77E3-9D118CF1C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542260"/>
          </a:xfrm>
        </p:spPr>
        <p:txBody>
          <a:bodyPr>
            <a:normAutofit/>
          </a:bodyPr>
          <a:lstStyle/>
          <a:p>
            <a:r>
              <a:rPr lang="en-US" sz="2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Consumer Rights and Privacy in the Digital Age</a:t>
            </a:r>
            <a:endParaRPr lang="en-US" sz="2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47896-FED6-529C-44D9-3DDA4259A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679732"/>
            <a:ext cx="10691265" cy="4423356"/>
          </a:xfrm>
        </p:spPr>
        <p:txBody>
          <a:bodyPr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“Who Owns Your Data”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100"/>
              </a:spcBef>
              <a:spcAft>
                <a:spcPts val="1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Privacy Debate: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100"/>
              </a:spcBef>
              <a:spcAft>
                <a:spcPts val="1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Public Perception: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As users became more aware of how their data was being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collected and monetized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88%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respondents in a Pew Research Center study felt they had little control over their personal data.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100"/>
              </a:spcBef>
              <a:spcAft>
                <a:spcPts val="1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Rising Demands for Protection: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There was an increasing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demand for stronger data privacy regulations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with calls for data privacy to be recognized as a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fundamental human right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100"/>
              </a:spcBef>
              <a:spcAft>
                <a:spcPts val="1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Regulatory Pressure: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100"/>
              </a:spcBef>
              <a:spcAft>
                <a:spcPts val="1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GDPR (General Data Protection Regulation):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European Union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set a global standard with GDPR, pushing companies like Facebook to adopt stronger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privacy measures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granting users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control over their data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100"/>
              </a:spcBef>
              <a:spcAft>
                <a:spcPts val="1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Global Efforts: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Other countries began to introduce similar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protection laws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pushing for transparency in how companies collect, use, and store personal 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3916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C2F6-6805-69CF-0CEF-15FA42B38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01749"/>
          </a:xfrm>
        </p:spPr>
        <p:txBody>
          <a:bodyPr>
            <a:normAutofit/>
          </a:bodyPr>
          <a:lstStyle/>
          <a:p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What’s Next for Online Privacy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880E7-9456-54FF-AD63-B509BA972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16149"/>
            <a:ext cx="10691265" cy="4486939"/>
          </a:xfrm>
        </p:spPr>
        <p:txBody>
          <a:bodyPr>
            <a:noAutofit/>
          </a:bodyPr>
          <a:lstStyle/>
          <a:p>
            <a:pPr marL="457200" lvl="1" algn="ctr">
              <a:lnSpc>
                <a:spcPct val="107000"/>
              </a:lnSpc>
              <a:spcAft>
                <a:spcPts val="200"/>
              </a:spcAft>
              <a:buNone/>
            </a:pP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“The Future of Data Protection in a Hyperconnected World”</a:t>
            </a:r>
            <a:endParaRPr lang="en-US" sz="24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Facebook’s Continued Struggles: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Despite introducing reforms, Facebook is still facing challenges around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misinformation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trust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concerns. The company’s reliance on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targeted advertising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remains a contentious issue.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Bigger Industry Shift: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scandal has forced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tech companies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reconsider how they handle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personal data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As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privacy concerns grow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companies must balance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ethical responsibility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managing user data.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2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Road Ahead: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Moving forward, tech companies, regulators, and consumers must work together to ensure that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privacy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protected while also ensuring that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is used responsibly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Stronger privacy laws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better transparency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will likely shape the future of the digital landscape.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3751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CEC44-3F61-762F-F468-4EF9C6E34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552893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 – A New Era of Accountability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816BE-0EC5-C96E-A302-2BE108F11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669098"/>
            <a:ext cx="10691265" cy="4274501"/>
          </a:xfrm>
        </p:spPr>
        <p:txBody>
          <a:bodyPr>
            <a:noAutofit/>
          </a:bodyPr>
          <a:lstStyle/>
          <a:p>
            <a:pPr marL="0" marR="0" algn="ctr">
              <a:lnSpc>
                <a:spcPct val="107000"/>
              </a:lnSpc>
              <a:spcAft>
                <a:spcPts val="100"/>
              </a:spcAft>
              <a:buNone/>
            </a:pP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“Privacy is Not Just a Choice, It’s a Right”</a:t>
            </a:r>
            <a:endParaRPr lang="en-US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1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1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Cambridge Analytica scandal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highlighted the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dangers of unregulated data collection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manipulation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personal data for political gain.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1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scandal underscored the need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companies to adopt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transparent data practices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ensure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greater user control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over personal information.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1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Looking Forward: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Aft>
                <a:spcPts val="1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we move into a new era of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the tech industry must prioritize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accountability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trust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Cambridge Analytica scandal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serves as a stark reminder that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privacy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must be at the heart of the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digital age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5483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EF6A4-A9D5-7CF3-994E-CCC70D70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60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1064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Calisto MT</vt:lpstr>
      <vt:lpstr>Courier New</vt:lpstr>
      <vt:lpstr>Symbol</vt:lpstr>
      <vt:lpstr>Times New Roman</vt:lpstr>
      <vt:lpstr>Univers Condensed</vt:lpstr>
      <vt:lpstr>ChronicleVTI</vt:lpstr>
      <vt:lpstr>The Facebook Cambridge Analytica the UNCERTAIN FUTURE OF ONLINE PRIVACY</vt:lpstr>
      <vt:lpstr>Unveiling the Cambridge Analytica Scandal</vt:lpstr>
      <vt:lpstr>Facebook’s Data Empire</vt:lpstr>
      <vt:lpstr>The Breach that Shook the World</vt:lpstr>
      <vt:lpstr>Public Outrage and Legal Consequences</vt:lpstr>
      <vt:lpstr>Facebook’s Response – A Change in Course</vt:lpstr>
      <vt:lpstr>Consumer Rights and Privacy in the Digital Age</vt:lpstr>
      <vt:lpstr>What’s Next for Online Privacy</vt:lpstr>
      <vt:lpstr>Conclusion – A New Era of Accountability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20CS065</dc:creator>
  <cp:lastModifiedBy>dhanraj narwani</cp:lastModifiedBy>
  <cp:revision>7</cp:revision>
  <dcterms:created xsi:type="dcterms:W3CDTF">2025-05-26T18:57:29Z</dcterms:created>
  <dcterms:modified xsi:type="dcterms:W3CDTF">2026-05-19T12:31:00Z</dcterms:modified>
</cp:coreProperties>
</file>